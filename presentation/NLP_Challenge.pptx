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440298e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440298e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440298ed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440298ed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440298ed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440298ed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440298ed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440298ed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440298ed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440298ed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60939b737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60939b737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1F2328"/>
                </a:solidFill>
                <a:highlight>
                  <a:srgbClr val="FFFFFF"/>
                </a:highlight>
              </a:rPr>
              <a:t>PROJECT | Natural Language Processing Challenge</a:t>
            </a:r>
            <a:endParaRPr b="1" sz="23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920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5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                           </a:t>
            </a:r>
            <a:r>
              <a:rPr b="1" lang="en"/>
              <a:t>Santiago Baron, Benny Michel, Edwin Santiago</a:t>
            </a:r>
            <a:endParaRPr b="1"/>
          </a:p>
        </p:txBody>
      </p:sp>
      <p:sp>
        <p:nvSpPr>
          <p:cNvPr id="56" name="Google Shape;56;p13"/>
          <p:cNvSpPr txBox="1"/>
          <p:nvPr/>
        </p:nvSpPr>
        <p:spPr>
          <a:xfrm>
            <a:off x="1623475" y="1819725"/>
            <a:ext cx="621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Fake News Detection: A Comparative Study of Machine Learning Architectures</a:t>
            </a:r>
            <a:endParaRPr sz="1300"/>
          </a:p>
        </p:txBody>
      </p:sp>
      <p:sp>
        <p:nvSpPr>
          <p:cNvPr id="57" name="Google Shape;57;p13"/>
          <p:cNvSpPr txBox="1"/>
          <p:nvPr/>
        </p:nvSpPr>
        <p:spPr>
          <a:xfrm>
            <a:off x="5663950" y="4704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February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C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514000" y="703100"/>
            <a:ext cx="85206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30">
                <a:latin typeface="Georgia"/>
                <a:ea typeface="Georgia"/>
                <a:cs typeface="Georgia"/>
                <a:sym typeface="Georgia"/>
              </a:rPr>
              <a:t>Executive summary</a:t>
            </a:r>
            <a:endParaRPr sz="538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1618425"/>
            <a:ext cx="3597600" cy="29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-31734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300">
                <a:solidFill>
                  <a:schemeClr val="dk1"/>
                </a:solidFill>
              </a:rPr>
              <a:t>Logistic Regression + TF-IDF. Accuracy: 94%</a:t>
            </a:r>
            <a:endParaRPr sz="4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t/>
            </a:r>
            <a:endParaRPr sz="4300">
              <a:solidFill>
                <a:schemeClr val="dk1"/>
              </a:solidFill>
            </a:endParaRPr>
          </a:p>
          <a:p>
            <a:pPr indent="-31734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300">
                <a:solidFill>
                  <a:schemeClr val="dk1"/>
                </a:solidFill>
              </a:rPr>
              <a:t>Other Models: </a:t>
            </a:r>
            <a:endParaRPr sz="4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lang="en" sz="4300">
                <a:solidFill>
                  <a:schemeClr val="dk1"/>
                </a:solidFill>
              </a:rPr>
              <a:t>  	</a:t>
            </a:r>
            <a:r>
              <a:rPr lang="en" sz="4300">
                <a:solidFill>
                  <a:schemeClr val="dk1"/>
                </a:solidFill>
              </a:rPr>
              <a:t>TF-IDF + Random Forest</a:t>
            </a:r>
            <a:endParaRPr sz="43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lang="en" sz="4300">
                <a:solidFill>
                  <a:schemeClr val="dk1"/>
                </a:solidFill>
              </a:rPr>
              <a:t>Word2Vec + XGBoost</a:t>
            </a:r>
            <a:endParaRPr sz="43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rPr lang="en" sz="4300">
                <a:solidFill>
                  <a:schemeClr val="dk1"/>
                </a:solidFill>
              </a:rPr>
              <a:t>TF-IDF + Naive Bayes</a:t>
            </a:r>
            <a:endParaRPr sz="4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581"/>
              <a:buFont typeface="Arial"/>
              <a:buNone/>
            </a:pPr>
            <a:r>
              <a:t/>
            </a:r>
            <a:endParaRPr sz="4300">
              <a:solidFill>
                <a:schemeClr val="dk1"/>
              </a:solidFill>
            </a:endParaRPr>
          </a:p>
          <a:p>
            <a:pPr indent="-31734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300">
                <a:solidFill>
                  <a:schemeClr val="dk1"/>
                </a:solidFill>
              </a:rPr>
              <a:t>Preprocessing</a:t>
            </a:r>
            <a:endParaRPr sz="4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chemeClr val="dk1"/>
              </a:solidFill>
            </a:endParaRPr>
          </a:p>
          <a:p>
            <a:pPr indent="-31734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300">
                <a:solidFill>
                  <a:schemeClr val="dk1"/>
                </a:solidFill>
              </a:rPr>
              <a:t>Benchmark of models </a:t>
            </a:r>
            <a:endParaRPr sz="4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" sz="2500">
                <a:solidFill>
                  <a:schemeClr val="dk1"/>
                </a:solidFill>
              </a:rPr>
              <a:t>  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2857"/>
              <a:buFont typeface="Arial"/>
              <a:buNone/>
            </a:pPr>
            <a:r>
              <a:t/>
            </a:r>
            <a:endParaRPr sz="17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 title="model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3150" y="584646"/>
            <a:ext cx="3597601" cy="5396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>
                <a:latin typeface="Georgia"/>
                <a:ea typeface="Georgia"/>
                <a:cs typeface="Georgia"/>
                <a:sym typeface="Georgia"/>
              </a:rPr>
              <a:t>Preprocessing techniques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0" name="Google Shape;70;p15" title="model1bowvstfid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1767" y="1127300"/>
            <a:ext cx="5460814" cy="3640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86412" y="1278903"/>
            <a:ext cx="406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General preprocessing: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- Quick EDA of format and values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- Class balance check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- Regex filter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- Stopword removal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Preprocessing techniques tested: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- TF-IDF vs BoW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- Unigrams vs unigrams + bigrams vs n-grams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- Stemmers and lemmatizers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  - Parameter tuning (different in each model)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>
                <a:latin typeface="Georgia"/>
                <a:ea typeface="Georgia"/>
                <a:cs typeface="Georgia"/>
                <a:sym typeface="Georgia"/>
              </a:rPr>
              <a:t>Embeddings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56650" y="1368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WORD2VEC + XGBOOST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TF-IDF + NAIVE BAYES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623400" y="-1712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50"/>
              <a:t>Models and methods </a:t>
            </a:r>
            <a:r>
              <a:rPr lang="en" sz="2389">
                <a:latin typeface="Courier New"/>
                <a:ea typeface="Courier New"/>
                <a:cs typeface="Courier New"/>
                <a:sym typeface="Courier New"/>
              </a:rPr>
              <a:t>•</a:t>
            </a:r>
            <a:r>
              <a:rPr lang="en" sz="2389"/>
              <a:t>Explain the models you tried and why</a:t>
            </a:r>
            <a:endParaRPr sz="100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09372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756600" y="4509100"/>
            <a:ext cx="780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lang="en" sz="1300">
                <a:solidFill>
                  <a:schemeClr val="dk1"/>
                </a:solidFill>
              </a:rPr>
              <a:t>4 different architectures to find the best trade-off between semantic depth and statistical precision.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1975" y="372025"/>
            <a:ext cx="6469825" cy="43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50">
                <a:latin typeface="Georgia"/>
                <a:ea typeface="Georgia"/>
                <a:cs typeface="Georgia"/>
                <a:sym typeface="Georgia"/>
              </a:rPr>
              <a:t>Takeaways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Recap: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Logistic Regression with TF-IDF achieved the best overall performance, reaching 94% accuracy.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Challenges: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Selecting the right feature representation, preventing overfitting in complex models.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Key learnings: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Feature engineering had a greater impact than model complexity, and simpler models generalized better.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